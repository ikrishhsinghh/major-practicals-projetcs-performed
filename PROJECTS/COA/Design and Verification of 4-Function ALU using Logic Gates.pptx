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6" r:id="rId3"/>
    <p:sldId id="286" r:id="rId4"/>
    <p:sldId id="291" r:id="rId5"/>
    <p:sldId id="283" r:id="rId6"/>
    <p:sldId id="287" r:id="rId7"/>
    <p:sldId id="274" r:id="rId8"/>
    <p:sldId id="265" r:id="rId9"/>
    <p:sldId id="278" r:id="rId10"/>
    <p:sldId id="292" r:id="rId11"/>
    <p:sldId id="293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0"/>
    <p:restoredTop sz="94626"/>
  </p:normalViewPr>
  <p:slideViewPr>
    <p:cSldViewPr snapToGrid="0">
      <p:cViewPr varScale="1">
        <p:scale>
          <a:sx n="70" d="100"/>
          <a:sy n="70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73D947E0-108F-4D20-A71E-3CF329F97212}">
      <dgm:prSet phldr="0" custT="1"/>
      <dgm:spPr>
        <a:ln>
          <a:noFill/>
        </a:ln>
      </dgm:spPr>
      <dgm:t>
        <a:bodyPr/>
        <a:lstStyle/>
        <a:p>
          <a:pPr marL="0" rtl="0"/>
          <a:r>
            <a:rPr lang="en-US" sz="20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LOGIC GATES</a:t>
          </a:r>
          <a:endParaRPr lang="en-US" sz="2000" b="0" i="0" dirty="0">
            <a:solidFill>
              <a:schemeClr val="bg1"/>
            </a:solidFill>
            <a:latin typeface="+mn-lt"/>
          </a:endParaRP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/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/>
        </a:p>
      </dgm:t>
    </dgm:pt>
    <dgm:pt modelId="{30A490C8-22B4-4D68-875C-0F0DE2FF864D}">
      <dgm:prSet phldr="0" custT="1"/>
      <dgm:spPr>
        <a:solidFill>
          <a:schemeClr val="accent1">
            <a:lumMod val="60000"/>
            <a:lumOff val="40000"/>
            <a:alpha val="63879"/>
          </a:schemeClr>
        </a:solidFill>
        <a:ln>
          <a:noFill/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8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AND, OR, NOT, XOR gates for Boolean operations</a:t>
          </a:r>
          <a:endParaRPr lang="en-US" sz="1800" b="1" i="0" dirty="0">
            <a:latin typeface="+mn-lt"/>
          </a:endParaRP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/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/>
        </a:p>
      </dgm:t>
    </dgm:pt>
    <dgm:pt modelId="{B1AFA1AF-0FF8-45B3-A6D0-0E255A2F637D}">
      <dgm:prSet phldr="0" custT="1"/>
      <dgm:spPr>
        <a:solidFill>
          <a:schemeClr val="accent1">
            <a:lumMod val="75000"/>
            <a:alpha val="52980"/>
          </a:schemeClr>
        </a:solidFill>
        <a:ln>
          <a:noFill/>
        </a:ln>
      </dgm:spPr>
      <dgm:t>
        <a:bodyPr/>
        <a:lstStyle/>
        <a:p>
          <a:pPr marL="0"/>
          <a:r>
            <a:rPr lang="en-US" sz="20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FULL ADDER</a:t>
          </a:r>
          <a:endParaRPr lang="en-US" sz="2000" b="0" i="0" dirty="0">
            <a:solidFill>
              <a:schemeClr val="bg1"/>
            </a:solidFill>
            <a:latin typeface="+mn-lt"/>
          </a:endParaRP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/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/>
        </a:p>
      </dgm:t>
    </dgm:pt>
    <dgm:pt modelId="{50418D2B-9486-42DE-AFDD-1D31420040FF}">
      <dgm:prSet phldr="0" custT="1"/>
      <dgm:spPr>
        <a:solidFill>
          <a:schemeClr val="accent1">
            <a:lumMod val="40000"/>
            <a:lumOff val="60000"/>
            <a:alpha val="45201"/>
          </a:schemeClr>
        </a:solidFill>
        <a:ln>
          <a:noFill/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8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Handles binary addition with carry propagation</a:t>
          </a:r>
          <a:endParaRPr lang="en-US" sz="1800" b="1" i="0" dirty="0">
            <a:latin typeface="+mn-lt"/>
          </a:endParaRP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/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/>
        </a:p>
      </dgm:t>
    </dgm:pt>
    <dgm:pt modelId="{E9682B4F-0217-4B50-923E-C104AA24290F}">
      <dgm:prSet phldr="0" custT="1"/>
      <dgm:spPr>
        <a:ln>
          <a:noFill/>
        </a:ln>
      </dgm:spPr>
      <dgm:t>
        <a:bodyPr/>
        <a:lstStyle/>
        <a:p>
          <a:pPr marL="0"/>
          <a:r>
            <a:rPr lang="en-US" sz="20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MULTIPLEXER</a:t>
          </a:r>
          <a:endParaRPr lang="en-US" sz="2000" b="0" i="0" dirty="0">
            <a:solidFill>
              <a:schemeClr val="bg1"/>
            </a:solidFill>
            <a:latin typeface="+mn-lt"/>
          </a:endParaRP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/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/>
        </a:p>
      </dgm:t>
    </dgm:pt>
    <dgm:pt modelId="{0EC0C300-11E4-45CF-8418-973585107209}">
      <dgm:prSet phldr="0" custT="1"/>
      <dgm:spPr>
        <a:solidFill>
          <a:schemeClr val="accent1">
            <a:lumMod val="20000"/>
            <a:lumOff val="80000"/>
            <a:alpha val="44000"/>
          </a:schemeClr>
        </a:solidFill>
        <a:ln>
          <a:noFill/>
        </a:ln>
      </dgm:spPr>
      <dgm:t>
        <a:bodyPr/>
        <a:lstStyle/>
        <a:p>
          <a:pPr marL="0">
            <a:lnSpc>
              <a:spcPct val="100000"/>
            </a:lnSpc>
          </a:pPr>
          <a:r>
            <a:rPr lang="en-US" sz="18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Selects between multiple operation outputs</a:t>
          </a:r>
          <a:endParaRPr lang="en-US" sz="1800" b="1" i="0" dirty="0">
            <a:latin typeface="+mn-lt"/>
          </a:endParaRP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/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/>
        </a:p>
      </dgm:t>
    </dgm:pt>
    <dgm:pt modelId="{FEB4A941-E9FA-4A86-A673-85FF34B35F20}">
      <dgm:prSet phldr="0" custT="1"/>
      <dgm:spPr>
        <a:solidFill>
          <a:schemeClr val="accent1">
            <a:lumMod val="40000"/>
            <a:lumOff val="60000"/>
            <a:alpha val="45000"/>
          </a:schemeClr>
        </a:solidFill>
        <a:ln>
          <a:noFill/>
        </a:ln>
      </dgm:spPr>
      <dgm:t>
        <a:bodyPr/>
        <a:lstStyle/>
        <a:p>
          <a:pPr marL="0" rtl="0">
            <a:lnSpc>
              <a:spcPct val="100000"/>
            </a:lnSpc>
          </a:pPr>
          <a:r>
            <a:rPr lang="en-US" sz="18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Input switches and LED displays for testing</a:t>
          </a:r>
          <a:endParaRPr lang="en-US" sz="1800" b="1" i="0" dirty="0">
            <a:latin typeface="+mn-lt"/>
          </a:endParaRP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/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/>
        </a:p>
      </dgm:t>
    </dgm:pt>
    <dgm:pt modelId="{4F85505A-81B6-4FDA-A144-900B71DAD946}">
      <dgm:prSet phldr="0" custT="1"/>
      <dgm:spPr>
        <a:solidFill>
          <a:schemeClr val="accent1">
            <a:lumMod val="75000"/>
            <a:alpha val="53000"/>
          </a:schemeClr>
        </a:solidFill>
        <a:ln>
          <a:noFill/>
        </a:ln>
      </dgm:spPr>
      <dgm:t>
        <a:bodyPr/>
        <a:lstStyle/>
        <a:p>
          <a:pPr marL="0"/>
          <a:r>
            <a:rPr lang="en-US" sz="20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I/O DEVICES</a:t>
          </a:r>
          <a:endParaRPr lang="en-US" sz="2000" b="0" i="0" dirty="0">
            <a:solidFill>
              <a:schemeClr val="bg1"/>
            </a:solidFill>
            <a:latin typeface="+mn-lt"/>
          </a:endParaRP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/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/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4">
        <dgm:presLayoutVars>
          <dgm:chMax val="0"/>
          <dgm:chPref val="0"/>
        </dgm:presLayoutVars>
      </dgm:prSet>
      <dgm:spPr/>
    </dgm:pt>
    <dgm:pt modelId="{22359DD7-1BFB-4900-BAE6-6084F2F57988}" type="pres">
      <dgm:prSet presAssocID="{73D947E0-108F-4D20-A71E-3CF329F97212}" presName="desTx" presStyleLbl="alignAccFollowNode1" presStyleIdx="0" presStyleCnt="4" custScaleY="146656" custLinFactNeighborY="30641">
        <dgm:presLayoutVars/>
      </dgm:prSet>
      <dgm:spPr/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4">
        <dgm:presLayoutVars>
          <dgm:chMax val="0"/>
          <dgm:chPref val="0"/>
        </dgm:presLayoutVars>
      </dgm:prSet>
      <dgm:spPr/>
    </dgm:pt>
    <dgm:pt modelId="{4FEB85EB-D046-4CDB-8A62-BBCE260C4490}" type="pres">
      <dgm:prSet presAssocID="{B1AFA1AF-0FF8-45B3-A6D0-0E255A2F637D}" presName="desTx" presStyleLbl="alignAccFollowNode1" presStyleIdx="1" presStyleCnt="4" custScaleY="146837" custLinFactNeighborX="-583" custLinFactNeighborY="32252">
        <dgm:presLayoutVars/>
      </dgm:prSet>
      <dgm:spPr/>
    </dgm:pt>
    <dgm:pt modelId="{40F59683-723F-44D1-8379-95635EED1AA8}" type="pres">
      <dgm:prSet presAssocID="{88649F7A-400B-4056-965D-C9AC0B3AD942}" presName="space" presStyleCnt="0"/>
      <dgm:spPr/>
    </dgm:pt>
    <dgm:pt modelId="{BB2E4F65-C461-40C3-BC82-6A29AA851F44}" type="pres">
      <dgm:prSet presAssocID="{E9682B4F-0217-4B50-923E-C104AA24290F}" presName="composite" presStyleCnt="0"/>
      <dgm:spPr/>
    </dgm:pt>
    <dgm:pt modelId="{49B7F8FA-D256-41EF-9327-52A3551D9A60}" type="pres">
      <dgm:prSet presAssocID="{E9682B4F-0217-4B50-923E-C104AA24290F}" presName="parTx" presStyleLbl="alignNode1" presStyleIdx="2" presStyleCnt="4">
        <dgm:presLayoutVars>
          <dgm:chMax val="0"/>
          <dgm:chPref val="0"/>
        </dgm:presLayoutVars>
      </dgm:prSet>
      <dgm:spPr/>
    </dgm:pt>
    <dgm:pt modelId="{6B5FE59C-B471-448A-AA7A-B526DCC4D4CA}" type="pres">
      <dgm:prSet presAssocID="{E9682B4F-0217-4B50-923E-C104AA24290F}" presName="desTx" presStyleLbl="alignAccFollowNode1" presStyleIdx="2" presStyleCnt="4" custScaleY="146837" custLinFactNeighborX="-860" custLinFactNeighborY="30454">
        <dgm:presLayoutVars/>
      </dgm:prSet>
      <dgm:spPr/>
    </dgm:pt>
    <dgm:pt modelId="{A91542D9-4FB3-4302-AD03-3D6EF82E6748}" type="pres">
      <dgm:prSet presAssocID="{B8632E42-D7EB-4C31-877E-6F1B2801851A}" presName="space" presStyleCnt="0"/>
      <dgm:spPr/>
    </dgm:pt>
    <dgm:pt modelId="{1A7C3045-2DAF-4A19-82DB-79436B2E4575}" type="pres">
      <dgm:prSet presAssocID="{4F85505A-81B6-4FDA-A144-900B71DAD946}" presName="composite" presStyleCnt="0"/>
      <dgm:spPr/>
    </dgm:pt>
    <dgm:pt modelId="{4132ECB1-6BEF-4935-AFA3-B2EAA48FDE7E}" type="pres">
      <dgm:prSet presAssocID="{4F85505A-81B6-4FDA-A144-900B71DAD946}" presName="parTx" presStyleLbl="alignNode1" presStyleIdx="3" presStyleCnt="4">
        <dgm:presLayoutVars>
          <dgm:chMax val="0"/>
          <dgm:chPref val="0"/>
        </dgm:presLayoutVars>
      </dgm:prSet>
      <dgm:spPr/>
    </dgm:pt>
    <dgm:pt modelId="{C42A8BDE-B838-475D-AFDE-17B60D744AB6}" type="pres">
      <dgm:prSet presAssocID="{4F85505A-81B6-4FDA-A144-900B71DAD946}" presName="desTx" presStyleLbl="alignAccFollowNode1" presStyleIdx="3" presStyleCnt="4" custScaleY="146837" custLinFactNeighborY="30454">
        <dgm:presLayoutVars/>
      </dgm:prSet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6291F24F-B536-4688-99BC-6A4CB5E15E15}" type="presOf" srcId="{4F85505A-81B6-4FDA-A144-900B71DAD946}" destId="{4132ECB1-6BEF-4935-AFA3-B2EAA48FDE7E}" srcOrd="0" destOrd="0" presId="urn:microsoft.com/office/officeart/2016/7/layout/HorizontalAction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110097B3-0B24-42EE-9C79-845C028B379B}" type="presOf" srcId="{E9682B4F-0217-4B50-923E-C104AA24290F}" destId="{49B7F8FA-D256-41EF-9327-52A3551D9A60}" srcOrd="0" destOrd="0" presId="urn:microsoft.com/office/officeart/2016/7/layout/HorizontalAction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8CB96BD1-8B01-481A-B525-C5C507C9951C}" type="presOf" srcId="{0EC0C300-11E4-45CF-8418-973585107209}" destId="{6B5FE59C-B471-448A-AA7A-B526DCC4D4CA}" srcOrd="0" destOrd="0" presId="urn:microsoft.com/office/officeart/2016/7/layout/HorizontalActionList"/>
    <dgm:cxn modelId="{36A4EED2-16DE-4F21-9B57-BD053CD7ED3D}" type="presOf" srcId="{FEB4A941-E9FA-4A86-A673-85FF34B35F20}" destId="{C42A8BDE-B838-475D-AFDE-17B60D744AB6}" srcOrd="0" destOrd="0" presId="urn:microsoft.com/office/officeart/2016/7/layout/HorizontalActionList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AAE65B9C-F662-4FAA-8FDB-82E7FB86BB24}" type="presParOf" srcId="{E4B4F7C4-5024-45F0-9FD7-C5068A1AE6C4}" destId="{40F59683-723F-44D1-8379-95635EED1AA8}" srcOrd="3" destOrd="0" presId="urn:microsoft.com/office/officeart/2016/7/layout/HorizontalActionList"/>
    <dgm:cxn modelId="{F5BE37E3-59D0-4D56-B08C-9B1D93695802}" type="presParOf" srcId="{E4B4F7C4-5024-45F0-9FD7-C5068A1AE6C4}" destId="{BB2E4F65-C461-40C3-BC82-6A29AA851F44}" srcOrd="4" destOrd="0" presId="urn:microsoft.com/office/officeart/2016/7/layout/HorizontalActionList"/>
    <dgm:cxn modelId="{1FC3B8DB-8632-4AA8-99E5-4F0C12504130}" type="presParOf" srcId="{BB2E4F65-C461-40C3-BC82-6A29AA851F44}" destId="{49B7F8FA-D256-41EF-9327-52A3551D9A60}" srcOrd="0" destOrd="0" presId="urn:microsoft.com/office/officeart/2016/7/layout/HorizontalActionList"/>
    <dgm:cxn modelId="{03A1CBF9-FFCE-4B8C-9850-8B297556CCF4}" type="presParOf" srcId="{BB2E4F65-C461-40C3-BC82-6A29AA851F44}" destId="{6B5FE59C-B471-448A-AA7A-B526DCC4D4CA}" srcOrd="1" destOrd="0" presId="urn:microsoft.com/office/officeart/2016/7/layout/HorizontalActionList"/>
    <dgm:cxn modelId="{BAB9C1C4-8A05-4AE7-B42E-55875981524E}" type="presParOf" srcId="{E4B4F7C4-5024-45F0-9FD7-C5068A1AE6C4}" destId="{A91542D9-4FB3-4302-AD03-3D6EF82E6748}" srcOrd="5" destOrd="0" presId="urn:microsoft.com/office/officeart/2016/7/layout/HorizontalActionList"/>
    <dgm:cxn modelId="{F7DEAAC8-FCAD-4F6B-92BD-91B8342F3277}" type="presParOf" srcId="{E4B4F7C4-5024-45F0-9FD7-C5068A1AE6C4}" destId="{1A7C3045-2DAF-4A19-82DB-79436B2E4575}" srcOrd="6" destOrd="0" presId="urn:microsoft.com/office/officeart/2016/7/layout/HorizontalActionList"/>
    <dgm:cxn modelId="{13555CA3-20BE-41F8-BD09-0BA8CEE1C702}" type="presParOf" srcId="{1A7C3045-2DAF-4A19-82DB-79436B2E4575}" destId="{4132ECB1-6BEF-4935-AFA3-B2EAA48FDE7E}" srcOrd="0" destOrd="0" presId="urn:microsoft.com/office/officeart/2016/7/layout/HorizontalActionList"/>
    <dgm:cxn modelId="{0848E8B2-6BD5-4CB6-B7E0-F8F1B1F78E2F}" type="presParOf" srcId="{1A7C3045-2DAF-4A19-82DB-79436B2E4575}" destId="{C42A8BDE-B838-475D-AFDE-17B60D744AB6}" srcOrd="1" destOrd="0" presId="urn:microsoft.com/office/officeart/2016/7/layout/HorizontalAc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1148" y="717678"/>
          <a:ext cx="2449694" cy="73490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80" tIns="193580" rIns="193580" bIns="1935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LOGIC GATES</a:t>
          </a:r>
          <a:endParaRPr lang="en-US" sz="2000" b="0" i="0" kern="1200" dirty="0">
            <a:solidFill>
              <a:schemeClr val="bg1"/>
            </a:solidFill>
            <a:latin typeface="+mn-lt"/>
          </a:endParaRPr>
        </a:p>
      </dsp:txBody>
      <dsp:txXfrm>
        <a:off x="1148" y="717678"/>
        <a:ext cx="2449694" cy="734908"/>
      </dsp:txXfrm>
    </dsp:sp>
    <dsp:sp modelId="{22359DD7-1BFB-4900-BAE6-6084F2F57988}">
      <dsp:nvSpPr>
        <dsp:cNvPr id="0" name=""/>
        <dsp:cNvSpPr/>
      </dsp:nvSpPr>
      <dsp:spPr>
        <a:xfrm>
          <a:off x="1148" y="1612117"/>
          <a:ext cx="2449694" cy="3199250"/>
        </a:xfrm>
        <a:prstGeom prst="rect">
          <a:avLst/>
        </a:prstGeom>
        <a:solidFill>
          <a:schemeClr val="accent1">
            <a:lumMod val="60000"/>
            <a:lumOff val="40000"/>
            <a:alpha val="63879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975" tIns="241975" rIns="241975" bIns="241975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AND, OR, NOT, XOR gates for Boolean operations</a:t>
          </a:r>
          <a:endParaRPr lang="en-US" sz="1800" b="1" i="0" kern="1200" dirty="0">
            <a:latin typeface="+mn-lt"/>
          </a:endParaRPr>
        </a:p>
      </dsp:txBody>
      <dsp:txXfrm>
        <a:off x="1148" y="1612117"/>
        <a:ext cx="2449694" cy="3199250"/>
      </dsp:txXfrm>
    </dsp:sp>
    <dsp:sp modelId="{C4F84DEA-2002-4D32-8E80-70EEE05E345A}">
      <dsp:nvSpPr>
        <dsp:cNvPr id="0" name=""/>
        <dsp:cNvSpPr/>
      </dsp:nvSpPr>
      <dsp:spPr>
        <a:xfrm>
          <a:off x="2558842" y="716691"/>
          <a:ext cx="2449694" cy="734908"/>
        </a:xfrm>
        <a:prstGeom prst="rect">
          <a:avLst/>
        </a:prstGeom>
        <a:solidFill>
          <a:schemeClr val="accent1">
            <a:lumMod val="75000"/>
            <a:alpha val="5298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80" tIns="193580" rIns="193580" bIns="1935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FULL ADDER</a:t>
          </a:r>
          <a:endParaRPr lang="en-US" sz="2000" b="0" i="0" kern="1200" dirty="0">
            <a:solidFill>
              <a:schemeClr val="bg1"/>
            </a:solidFill>
            <a:latin typeface="+mn-lt"/>
          </a:endParaRPr>
        </a:p>
      </dsp:txBody>
      <dsp:txXfrm>
        <a:off x="2558842" y="716691"/>
        <a:ext cx="2449694" cy="734908"/>
      </dsp:txXfrm>
    </dsp:sp>
    <dsp:sp modelId="{4FEB85EB-D046-4CDB-8A62-BBCE260C4490}">
      <dsp:nvSpPr>
        <dsp:cNvPr id="0" name=""/>
        <dsp:cNvSpPr/>
      </dsp:nvSpPr>
      <dsp:spPr>
        <a:xfrm>
          <a:off x="2544561" y="1644299"/>
          <a:ext cx="2449694" cy="3203199"/>
        </a:xfrm>
        <a:prstGeom prst="rect">
          <a:avLst/>
        </a:prstGeom>
        <a:solidFill>
          <a:schemeClr val="accent1">
            <a:lumMod val="40000"/>
            <a:lumOff val="60000"/>
            <a:alpha val="45201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975" tIns="241975" rIns="241975" bIns="241975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Handles binary addition with carry propagation</a:t>
          </a:r>
          <a:endParaRPr lang="en-US" sz="1800" b="1" i="0" kern="1200" dirty="0">
            <a:latin typeface="+mn-lt"/>
          </a:endParaRPr>
        </a:p>
      </dsp:txBody>
      <dsp:txXfrm>
        <a:off x="2544561" y="1644299"/>
        <a:ext cx="2449694" cy="3203199"/>
      </dsp:txXfrm>
    </dsp:sp>
    <dsp:sp modelId="{49B7F8FA-D256-41EF-9327-52A3551D9A60}">
      <dsp:nvSpPr>
        <dsp:cNvPr id="0" name=""/>
        <dsp:cNvSpPr/>
      </dsp:nvSpPr>
      <dsp:spPr>
        <a:xfrm>
          <a:off x="5116537" y="716691"/>
          <a:ext cx="2449694" cy="734908"/>
        </a:xfrm>
        <a:prstGeom prst="rect">
          <a:avLst/>
        </a:prstGeom>
        <a:solidFill>
          <a:schemeClr val="accent1">
            <a:shade val="80000"/>
            <a:hueOff val="119708"/>
            <a:satOff val="6185"/>
            <a:lumOff val="16027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80" tIns="193580" rIns="193580" bIns="1935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MULTIPLEXER</a:t>
          </a:r>
          <a:endParaRPr lang="en-US" sz="2000" b="0" i="0" kern="1200" dirty="0">
            <a:solidFill>
              <a:schemeClr val="bg1"/>
            </a:solidFill>
            <a:latin typeface="+mn-lt"/>
          </a:endParaRPr>
        </a:p>
      </dsp:txBody>
      <dsp:txXfrm>
        <a:off x="5116537" y="716691"/>
        <a:ext cx="2449694" cy="734908"/>
      </dsp:txXfrm>
    </dsp:sp>
    <dsp:sp modelId="{6B5FE59C-B471-448A-AA7A-B526DCC4D4CA}">
      <dsp:nvSpPr>
        <dsp:cNvPr id="0" name=""/>
        <dsp:cNvSpPr/>
      </dsp:nvSpPr>
      <dsp:spPr>
        <a:xfrm>
          <a:off x="5095470" y="1605076"/>
          <a:ext cx="2449694" cy="3203199"/>
        </a:xfrm>
        <a:prstGeom prst="rect">
          <a:avLst/>
        </a:prstGeom>
        <a:solidFill>
          <a:schemeClr val="accent1">
            <a:lumMod val="20000"/>
            <a:lumOff val="80000"/>
            <a:alpha val="44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975" tIns="241975" rIns="241975" bIns="241975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Selects between multiple operation outputs</a:t>
          </a:r>
          <a:endParaRPr lang="en-US" sz="1800" b="1" i="0" kern="1200" dirty="0">
            <a:latin typeface="+mn-lt"/>
          </a:endParaRPr>
        </a:p>
      </dsp:txBody>
      <dsp:txXfrm>
        <a:off x="5095470" y="1605076"/>
        <a:ext cx="2449694" cy="3203199"/>
      </dsp:txXfrm>
    </dsp:sp>
    <dsp:sp modelId="{4132ECB1-6BEF-4935-AFA3-B2EAA48FDE7E}">
      <dsp:nvSpPr>
        <dsp:cNvPr id="0" name=""/>
        <dsp:cNvSpPr/>
      </dsp:nvSpPr>
      <dsp:spPr>
        <a:xfrm>
          <a:off x="7674232" y="716691"/>
          <a:ext cx="2449694" cy="734908"/>
        </a:xfrm>
        <a:prstGeom prst="rect">
          <a:avLst/>
        </a:prstGeom>
        <a:solidFill>
          <a:schemeClr val="accent1">
            <a:lumMod val="75000"/>
            <a:alpha val="53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80" tIns="193580" rIns="193580" bIns="1935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+mn-lt"/>
              <a:ea typeface="Alice" pitchFamily="34" charset="-122"/>
              <a:cs typeface="Alice" pitchFamily="34" charset="-120"/>
            </a:rPr>
            <a:t>I/O DEVICES</a:t>
          </a:r>
          <a:endParaRPr lang="en-US" sz="2000" b="0" i="0" kern="1200" dirty="0">
            <a:solidFill>
              <a:schemeClr val="bg1"/>
            </a:solidFill>
            <a:latin typeface="+mn-lt"/>
          </a:endParaRPr>
        </a:p>
      </dsp:txBody>
      <dsp:txXfrm>
        <a:off x="7674232" y="716691"/>
        <a:ext cx="2449694" cy="734908"/>
      </dsp:txXfrm>
    </dsp:sp>
    <dsp:sp modelId="{C42A8BDE-B838-475D-AFDE-17B60D744AB6}">
      <dsp:nvSpPr>
        <dsp:cNvPr id="0" name=""/>
        <dsp:cNvSpPr/>
      </dsp:nvSpPr>
      <dsp:spPr>
        <a:xfrm>
          <a:off x="7674232" y="1605076"/>
          <a:ext cx="2449694" cy="3203199"/>
        </a:xfrm>
        <a:prstGeom prst="rect">
          <a:avLst/>
        </a:prstGeom>
        <a:solidFill>
          <a:schemeClr val="accent1">
            <a:lumMod val="40000"/>
            <a:lumOff val="60000"/>
            <a:alpha val="4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975" tIns="241975" rIns="241975" bIns="241975" numCol="1" spcCol="1270" anchor="t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2C2821"/>
              </a:solidFill>
              <a:latin typeface="+mn-lt"/>
              <a:ea typeface="Lora" pitchFamily="34" charset="-122"/>
              <a:cs typeface="Lora" pitchFamily="34" charset="-120"/>
            </a:rPr>
            <a:t>Input switches and LED displays for testing</a:t>
          </a:r>
          <a:endParaRPr lang="en-US" sz="1800" b="1" i="0" kern="1200" dirty="0">
            <a:latin typeface="+mn-lt"/>
          </a:endParaRPr>
        </a:p>
      </dsp:txBody>
      <dsp:txXfrm>
        <a:off x="7674232" y="1605076"/>
        <a:ext cx="2449694" cy="3203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031F-35B2-D079-A826-923EF4096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6FBA5-199A-CDC2-E98B-6E1A57237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D2F6E-045B-4E93-4BD2-3F2E5BF83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8694D-6A6B-AAC4-C70E-454117CE9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08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A71B-6877-D3B6-A93D-42533651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6AF01-B4B3-29B2-6A2A-DF4D189A6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26406-680C-EDC2-0113-8DEEDA619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DC25-6AED-E455-E684-05FEBA0C6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63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768" y="633753"/>
            <a:ext cx="7414940" cy="5783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8" y="1313284"/>
            <a:ext cx="6226593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3347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1"/>
            <a:ext cx="10506416" cy="1128519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63DD79-6EE3-B8D8-0CBF-2151E351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438" y="2090460"/>
            <a:ext cx="4729163" cy="3271838"/>
          </a:xfrm>
          <a:custGeom>
            <a:avLst/>
            <a:gdLst>
              <a:gd name="connsiteX0" fmla="*/ 0 w 4729163"/>
              <a:gd name="connsiteY0" fmla="*/ 0 h 3271838"/>
              <a:gd name="connsiteX1" fmla="*/ 4729163 w 4729163"/>
              <a:gd name="connsiteY1" fmla="*/ 0 h 3271838"/>
              <a:gd name="connsiteX2" fmla="*/ 4729163 w 4729163"/>
              <a:gd name="connsiteY2" fmla="*/ 1519113 h 3271838"/>
              <a:gd name="connsiteX3" fmla="*/ 4674888 w 4729163"/>
              <a:gd name="connsiteY3" fmla="*/ 1524585 h 3271838"/>
              <a:gd name="connsiteX4" fmla="*/ 4145679 w 4729163"/>
              <a:gd name="connsiteY4" fmla="*/ 2173901 h 3271838"/>
              <a:gd name="connsiteX5" fmla="*/ 4674888 w 4729163"/>
              <a:gd name="connsiteY5" fmla="*/ 2823218 h 3271838"/>
              <a:gd name="connsiteX6" fmla="*/ 4729163 w 4729163"/>
              <a:gd name="connsiteY6" fmla="*/ 2828689 h 3271838"/>
              <a:gd name="connsiteX7" fmla="*/ 4729163 w 4729163"/>
              <a:gd name="connsiteY7" fmla="*/ 3271838 h 3271838"/>
              <a:gd name="connsiteX8" fmla="*/ 0 w 4729163"/>
              <a:gd name="connsiteY8" fmla="*/ 3271838 h 327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9163" h="3271838">
                <a:moveTo>
                  <a:pt x="0" y="0"/>
                </a:moveTo>
                <a:lnTo>
                  <a:pt x="4729163" y="0"/>
                </a:lnTo>
                <a:lnTo>
                  <a:pt x="4729163" y="1519113"/>
                </a:lnTo>
                <a:lnTo>
                  <a:pt x="4674888" y="1524585"/>
                </a:lnTo>
                <a:cubicBezTo>
                  <a:pt x="4372869" y="1586387"/>
                  <a:pt x="4145679" y="1853613"/>
                  <a:pt x="4145679" y="2173901"/>
                </a:cubicBezTo>
                <a:cubicBezTo>
                  <a:pt x="4145679" y="2494190"/>
                  <a:pt x="4372869" y="2761416"/>
                  <a:pt x="4674888" y="2823218"/>
                </a:cubicBezTo>
                <a:lnTo>
                  <a:pt x="4729163" y="2828689"/>
                </a:lnTo>
                <a:lnTo>
                  <a:pt x="4729163" y="3271838"/>
                </a:lnTo>
                <a:lnTo>
                  <a:pt x="0" y="32718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50" y="2087562"/>
            <a:ext cx="4375150" cy="38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3A22C8-6F2C-1CDE-8309-91BEE025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2117" y="3601579"/>
            <a:ext cx="1325563" cy="1325563"/>
          </a:xfrm>
          <a:prstGeom prst="ellipse">
            <a:avLst/>
          </a:prstGeom>
          <a:solidFill>
            <a:schemeClr val="accent1">
              <a:alpha val="892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D6503F-0A61-068C-55A7-DCFF406FB3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B612C-940F-4C41-D28D-9328F15241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8985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445" y="2043946"/>
            <a:ext cx="6034216" cy="1439604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3445" y="3469262"/>
            <a:ext cx="6034216" cy="108564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cap="all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1B6B04-886C-2862-3BD4-97071FCAD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F1657-AAC1-699F-C320-E5260E380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>
            <a:no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reeform 5" descr="Man looking up at skyscrapers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880" y="1781357"/>
            <a:ext cx="5157787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80" y="2605269"/>
            <a:ext cx="5157787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292" y="1781357"/>
            <a:ext cx="5183188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292" y="2605269"/>
            <a:ext cx="5183188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EB52FD-12DF-7F90-E06C-0C83CEB26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5B760E-02DF-5B11-D744-D98DE8A01E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FEC7-DD3B-F9AE-2192-83960534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383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23487"/>
          <a:stretch/>
        </p:blipFill>
        <p:spPr>
          <a:xfrm>
            <a:off x="2531165" y="2125402"/>
            <a:ext cx="927983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00" y="1155320"/>
            <a:ext cx="8244113" cy="970081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000" b="0" i="0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04A311B-BF0E-4ABD-250E-58093E12EC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8500" y="2229358"/>
            <a:ext cx="7044643" cy="55918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1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227E488-456A-A645-EEF4-38AAED9C5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327" y="1747520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4825303-FCCD-E705-1213-BF7CF16DF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326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5524" y="5567730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A9E795C-FED0-FB6B-2D18-0BDABCA2C5B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8996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F18F814-0B06-5B49-EC7F-2FFDDB498F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8996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518B0AC6-8555-9EC9-31D5-2D41E9278A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31421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1026B989-CBAD-BCCA-CE61-AC5ABC3F87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39567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A6E4A81-98BC-4A0B-637E-A8A4EF704A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9567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71F3A8D-7485-35BA-4D51-752E669CD5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0967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C3EE756-2FF0-64E0-D905-235B8973F7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5515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5068E76-B8E5-A95C-FAAC-7F43B2481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515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5985B1DB-E488-ABA9-E8FB-18D2006DCE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513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C1105-93C5-0E50-1656-271A54E5D97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4F48D-1D23-34DB-1FB6-07EEB752692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8D869122-E2BC-ED44-681B-43F70BEF8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255CBD6C-C281-8722-27D4-3D2CC5788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0665" y="1650517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1774C4E-7344-8232-3750-E424576E1D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81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1CE5D490-4727-FFF1-4BFF-A3DED42EC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312" y="358765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53802057-01C6-8655-30FA-091AC2692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38242" y="1656748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9E47AF5-CB74-C3EB-76CA-1CA76678E2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362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890DFA6A-3356-DE98-022D-0DA202FBFD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201" y="358977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4EB02CDB-488A-8142-CAF9-8E37FFF7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819" y="166297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F3265D0-915B-E319-A154-B81C7A2C5B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3813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CC0A1957-087D-BAC8-2FD3-C7879A14D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090" y="359400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FA0782-5A43-CA2A-3152-A02B9D5D74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33396" y="166920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922E682-729B-97DE-1956-5B8FDDB7A7B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31390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A2E2333-661F-499A-4099-13003D5327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31978" y="359189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C2B0E64-6036-C50A-4B09-3307E136D0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665" y="4221285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1360129-7F80-B48D-D46B-A111F17E47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1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34A00EE2-7DE2-BF48-E0C1-81C2158B41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5312" y="615040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90EE9725-A8CC-5A72-59F1-663EECC9FD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38242" y="4218973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74C74F1-405C-C6EE-A607-2236B9B08E0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362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F3B25311-1AE4-31EC-9514-AD4642A2B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4201" y="6151618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EA14E23B-F3B1-C7A2-B03A-1CEABC2E4CF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5819" y="422012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914135F-F251-D319-FE2A-787B519F90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83813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A39619BE-B308-86FC-D02B-5B8AE1C8B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3090" y="614918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D44FC776-875A-9EAD-435C-F5D0F3DF38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3396" y="4222440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9DED069-060F-0176-B4A9-26120A147B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1390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4AD10861-EBBA-146D-C4EC-C0252F808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1978" y="6152835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2A1B4-8B38-9645-3655-35A4232B984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77F83-709B-A595-838B-A50CBBA8DB7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1">
            <a:extLst>
              <a:ext uri="{FF2B5EF4-FFF2-40B4-BE49-F238E27FC236}">
                <a16:creationId xmlns:a16="http://schemas.microsoft.com/office/drawing/2014/main" id="{3995F526-330B-DAB7-25A1-EFA47C9C8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93B8605C-A60E-DE47-5851-9BF04601C8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790" y="1864186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7B436DCE-21AD-38E2-5C66-1BA0938511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805" y="2553205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3A8FAFF0-E023-1B32-CC58-E8ABA8632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790" y="4057317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B73215FA-B8EB-7DD7-837F-F76B74F837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1805" y="4746336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ED9AA9-2FB1-B400-47C0-803090B07B01}"/>
              </a:ext>
            </a:extLst>
          </p:cNvPr>
          <p:cNvSpPr/>
          <p:nvPr userDrawn="1"/>
        </p:nvSpPr>
        <p:spPr>
          <a:xfrm>
            <a:off x="7793831" y="810843"/>
            <a:ext cx="3091172" cy="5597912"/>
          </a:xfrm>
          <a:prstGeom prst="rect">
            <a:avLst/>
          </a:prstGeom>
          <a:solidFill>
            <a:schemeClr val="accent1">
              <a:alpha val="9323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4510" y="1066373"/>
            <a:ext cx="2243137" cy="4929188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DE571619-8CCB-E378-472D-84C8ED7F8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91099" y="1066373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4A772672-1696-B0AC-34A7-37560F101D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1099" y="3716568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21385B8-472C-422F-2A52-C7133619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E7CA9C-8486-4EA1-8701-DB28FF478598}"/>
              </a:ext>
            </a:extLst>
          </p:cNvPr>
          <p:cNvSpPr/>
          <p:nvPr userDrawn="1"/>
        </p:nvSpPr>
        <p:spPr>
          <a:xfrm>
            <a:off x="2060160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5C378C59-971F-BF38-742D-D95B205A12C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40257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BAF3E19-6FBE-8CBB-4079-33F65C860D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257" y="3029583"/>
            <a:ext cx="2940863" cy="100200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cap="all" spc="300" baseline="0"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C42666-9F54-E92B-0327-85CCBAD21F0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44257" y="4053021"/>
            <a:ext cx="2944737" cy="2284667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FF2E1B-0868-370D-4DD5-C9FAA608FAF8}"/>
              </a:ext>
            </a:extLst>
          </p:cNvPr>
          <p:cNvSpPr/>
          <p:nvPr userDrawn="1"/>
        </p:nvSpPr>
        <p:spPr>
          <a:xfrm>
            <a:off x="5617535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4A9B4F-A838-18BA-A205-674E6E13EB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07541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35959781-AA1F-7789-57AC-F3583B408E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17227" y="3064120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AFA26A-367B-C958-6FDA-30DC18B385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7226" y="4066126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993317-B15E-4278-C4C8-D2C8F54AED79}"/>
              </a:ext>
            </a:extLst>
          </p:cNvPr>
          <p:cNvSpPr/>
          <p:nvPr userDrawn="1"/>
        </p:nvSpPr>
        <p:spPr>
          <a:xfrm>
            <a:off x="8836567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320E0A84-9337-4401-9D13-157978C6077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333421" y="200471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AC8F3009-6B00-DF9F-8517-05A8265566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3008" y="3029583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51E11FB-D524-5781-B4B3-F6E5484F19F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98539" y="4031589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B1E6-E67B-3B07-B464-6C782D2D21E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D2A3-D5E9-1D68-8AB2-1DB5C21E912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046038"/>
            <a:ext cx="4831207" cy="356813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66" y="1112838"/>
            <a:ext cx="3475649" cy="497522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0733" y="2803273"/>
            <a:ext cx="2121408" cy="2121408"/>
          </a:xfrm>
          <a:prstGeom prst="ellipse">
            <a:avLst/>
          </a:prstGeom>
          <a:solidFill>
            <a:schemeClr val="accent1">
              <a:alpha val="89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58537" y="4711495"/>
            <a:ext cx="192024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C7A66511-B85E-197E-52D6-398E0BABD4A3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>
              <a:alpha val="6736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600" b="1" i="0" baseline="0">
                <a:solidFill>
                  <a:schemeClr val="bg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3790988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DD54-AC6C-8FD6-3ABF-282F1F124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BBA03-8EAF-9651-6DC8-7316BA1FE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52" r:id="rId5"/>
    <p:sldLayoutId id="2147483665" r:id="rId6"/>
    <p:sldLayoutId id="2147483653" r:id="rId7"/>
    <p:sldLayoutId id="2147483654" r:id="rId8"/>
    <p:sldLayoutId id="2147483658" r:id="rId9"/>
    <p:sldLayoutId id="2147483655" r:id="rId10"/>
    <p:sldLayoutId id="2147483656" r:id="rId11"/>
    <p:sldLayoutId id="2147483657" r:id="rId12"/>
    <p:sldLayoutId id="2147483664" r:id="rId13"/>
    <p:sldLayoutId id="214748366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808" y="491873"/>
            <a:ext cx="10016548" cy="1228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spc="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Design and Verification of 4-Function</a:t>
            </a:r>
            <a:br>
              <a:rPr lang="en-US" sz="2600" spc="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</a:br>
            <a:r>
              <a:rPr lang="en-US" sz="2600" spc="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ALU using Logic Gates</a:t>
            </a:r>
            <a:endParaRPr lang="en-US" sz="2600" spc="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FD8D3D-82CB-EA16-814E-A3FED8BBF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808" y="1720312"/>
            <a:ext cx="7414940" cy="578325"/>
          </a:xfrm>
        </p:spPr>
        <p:txBody>
          <a:bodyPr/>
          <a:lstStyle/>
          <a:p>
            <a:r>
              <a:rPr lang="en-US" sz="1600" dirty="0"/>
              <a:t>Coa | </a:t>
            </a:r>
            <a:r>
              <a:rPr lang="en-US" sz="1600" dirty="0" err="1"/>
              <a:t>bsc</a:t>
            </a:r>
            <a:r>
              <a:rPr lang="en-US" sz="1600" dirty="0"/>
              <a:t> cs | </a:t>
            </a:r>
            <a:r>
              <a:rPr lang="en-US" sz="1600" dirty="0" err="1"/>
              <a:t>fy</a:t>
            </a:r>
            <a:endParaRPr lang="en-US" sz="1600" dirty="0"/>
          </a:p>
        </p:txBody>
      </p:sp>
      <p:sp>
        <p:nvSpPr>
          <p:cNvPr id="2" name="Subtitle 6">
            <a:extLst>
              <a:ext uri="{FF2B5EF4-FFF2-40B4-BE49-F238E27FC236}">
                <a16:creationId xmlns:a16="http://schemas.microsoft.com/office/drawing/2014/main" id="{19007A12-149B-A059-CD03-731E45FBBC58}"/>
              </a:ext>
            </a:extLst>
          </p:cNvPr>
          <p:cNvSpPr txBox="1">
            <a:spLocks/>
          </p:cNvSpPr>
          <p:nvPr/>
        </p:nvSpPr>
        <p:spPr>
          <a:xfrm>
            <a:off x="7616941" y="6345531"/>
            <a:ext cx="7414940" cy="2891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b="0" i="0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6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6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1400. Krishna Kamlesh </a:t>
            </a:r>
            <a:r>
              <a:rPr lang="en-US" sz="1600" b="1" dirty="0" err="1"/>
              <a:t>singh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52655-72F7-26B4-5DA5-07E2346C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8" y="791992"/>
            <a:ext cx="9737958" cy="1128519"/>
          </a:xfrm>
        </p:spPr>
        <p:txBody>
          <a:bodyPr/>
          <a:lstStyle/>
          <a:p>
            <a:r>
              <a:rPr lang="en-US" spc="0" dirty="0">
                <a:solidFill>
                  <a:schemeClr val="bg1"/>
                </a:solidFill>
              </a:rPr>
              <a:t>What is an</a:t>
            </a:r>
            <a:br>
              <a:rPr lang="en-US" spc="0" dirty="0">
                <a:solidFill>
                  <a:schemeClr val="bg1"/>
                </a:solidFill>
              </a:rPr>
            </a:br>
            <a:r>
              <a:rPr lang="en-US" spc="0" dirty="0">
                <a:solidFill>
                  <a:schemeClr val="bg1"/>
                </a:solidFill>
              </a:rPr>
              <a:t>ALU?</a:t>
            </a:r>
            <a:endParaRPr lang="en-US" spc="0" dirty="0">
              <a:solidFill>
                <a:srgbClr val="132BDC"/>
              </a:solidFill>
            </a:endParaRPr>
          </a:p>
        </p:txBody>
      </p:sp>
      <p:pic>
        <p:nvPicPr>
          <p:cNvPr id="15" name="Picture Placeholder 14" descr="White modern architecture">
            <a:extLst>
              <a:ext uri="{FF2B5EF4-FFF2-40B4-BE49-F238E27FC236}">
                <a16:creationId xmlns:a16="http://schemas.microsoft.com/office/drawing/2014/main" id="{6D77A1A7-7876-7DF9-AF3A-C47588011C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4188" y="2090459"/>
            <a:ext cx="4924720" cy="3271838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C01B0-7BC5-5869-A281-EF11B59B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3094" y="1780845"/>
            <a:ext cx="4570706" cy="3891067"/>
          </a:xfrm>
        </p:spPr>
        <p:txBody>
          <a:bodyPr/>
          <a:lstStyle/>
          <a:p>
            <a:r>
              <a:rPr lang="en-US" dirty="0"/>
              <a:t>The ALU is the computational core of a CPU, executing arithmetic and logical operations on binary data. It forms the foundation of processor architecture and computer system functionality.</a:t>
            </a:r>
          </a:p>
          <a:p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Processes instructions by performing calculations, comparisons, and data manipulations essential for program execution and system operations.</a:t>
            </a:r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18807DA-8378-BC90-BB6A-CA435DA6E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87" y="2090460"/>
            <a:ext cx="4924719" cy="327183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A3F1C7D-3EAE-C7CC-623F-BA5557731690}"/>
              </a:ext>
            </a:extLst>
          </p:cNvPr>
          <p:cNvSpPr/>
          <p:nvPr/>
        </p:nvSpPr>
        <p:spPr>
          <a:xfrm>
            <a:off x="4918885" y="3456654"/>
            <a:ext cx="1668653" cy="15498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50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3C5A-CEA8-6DDC-B3F1-41D07C4F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3411" y="0"/>
            <a:ext cx="6034216" cy="1439604"/>
          </a:xfrm>
        </p:spPr>
        <p:txBody>
          <a:bodyPr/>
          <a:lstStyle/>
          <a:p>
            <a:pPr algn="r"/>
            <a:r>
              <a:rPr lang="en-US" dirty="0"/>
              <a:t>Project Objectives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8A3E199-4C9E-AF28-0145-5C57D557C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855" y="1924633"/>
            <a:ext cx="184203" cy="741490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8050985B-CEB4-D931-3DD0-B1D591975178}"/>
              </a:ext>
            </a:extLst>
          </p:cNvPr>
          <p:cNvSpPr/>
          <p:nvPr/>
        </p:nvSpPr>
        <p:spPr>
          <a:xfrm>
            <a:off x="4602389" y="1924633"/>
            <a:ext cx="1524608" cy="858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Design Architecture</a:t>
            </a:r>
            <a:endParaRPr lang="en-US" sz="2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BC6E1FC-88AC-1A48-E260-08458661D384}"/>
              </a:ext>
            </a:extLst>
          </p:cNvPr>
          <p:cNvSpPr/>
          <p:nvPr/>
        </p:nvSpPr>
        <p:spPr>
          <a:xfrm>
            <a:off x="4602389" y="2643401"/>
            <a:ext cx="3201850" cy="175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Develop a 4-function ALU capable of executing addition, subtraction, AND, and OR operations on binary inputs</a:t>
            </a:r>
            <a:endParaRPr lang="en-US" sz="17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F995A62F-FABB-DEAF-8C9B-76F8045D445B}"/>
              </a:ext>
            </a:extLst>
          </p:cNvPr>
          <p:cNvSpPr/>
          <p:nvPr/>
        </p:nvSpPr>
        <p:spPr>
          <a:xfrm>
            <a:off x="8074616" y="1924633"/>
            <a:ext cx="3600964" cy="858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Logic Gate Implementation</a:t>
            </a:r>
            <a:endParaRPr lang="en-US" sz="22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549714C-125B-A4AF-8FA4-4346943E656B}"/>
              </a:ext>
            </a:extLst>
          </p:cNvPr>
          <p:cNvSpPr/>
          <p:nvPr/>
        </p:nvSpPr>
        <p:spPr>
          <a:xfrm>
            <a:off x="8074616" y="2612944"/>
            <a:ext cx="3330587" cy="175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Construct the circuit using fundamental logic gates: AND, OR, NOT, XOR, and Full Adder components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52161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591D-A346-B44F-C57A-AD7E3AAB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7DFC-9933-C070-14C2-231696EE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3411" y="0"/>
            <a:ext cx="6034216" cy="1439604"/>
          </a:xfrm>
        </p:spPr>
        <p:txBody>
          <a:bodyPr/>
          <a:lstStyle/>
          <a:p>
            <a:pPr algn="r"/>
            <a:r>
              <a:rPr lang="en-US" dirty="0"/>
              <a:t>Project Objectives</a:t>
            </a: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83B94EBD-4AA2-9FEA-EBC3-B7DE572159D2}"/>
              </a:ext>
            </a:extLst>
          </p:cNvPr>
          <p:cNvSpPr/>
          <p:nvPr/>
        </p:nvSpPr>
        <p:spPr>
          <a:xfrm>
            <a:off x="4633385" y="1966403"/>
            <a:ext cx="1876722" cy="26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Logisim Simulation</a:t>
            </a:r>
            <a:endParaRPr lang="en-US" sz="22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5F6870F8-4AD5-3D38-BC30-49D7379A0F6C}"/>
              </a:ext>
            </a:extLst>
          </p:cNvPr>
          <p:cNvSpPr/>
          <p:nvPr/>
        </p:nvSpPr>
        <p:spPr>
          <a:xfrm>
            <a:off x="4633386" y="2622561"/>
            <a:ext cx="3201850" cy="806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Build and test the complete circuit in Logisim digital design software with proper input/output configurations</a:t>
            </a:r>
            <a:endParaRPr lang="en-US" sz="175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AA081AC7-378A-95EF-0077-C9D424C989B1}"/>
              </a:ext>
            </a:extLst>
          </p:cNvPr>
          <p:cNvSpPr/>
          <p:nvPr/>
        </p:nvSpPr>
        <p:spPr>
          <a:xfrm>
            <a:off x="8105612" y="1966404"/>
            <a:ext cx="1876722" cy="26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Output Verification</a:t>
            </a:r>
            <a:endParaRPr lang="en-US" sz="22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CF371F98-16E9-249F-257B-BE058F50BF6D}"/>
              </a:ext>
            </a:extLst>
          </p:cNvPr>
          <p:cNvSpPr/>
          <p:nvPr/>
        </p:nvSpPr>
        <p:spPr>
          <a:xfrm>
            <a:off x="8105612" y="2622561"/>
            <a:ext cx="3471622" cy="53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Validate functionality through comprehensive truth table analysis and multiple test case scenarios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2345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 descr="Timeline Placeholder ">
            <a:extLst>
              <a:ext uri="{FF2B5EF4-FFF2-40B4-BE49-F238E27FC236}">
                <a16:creationId xmlns:a16="http://schemas.microsoft.com/office/drawing/2014/main" id="{19F9EF88-EB9B-04DD-91EC-4006E9AC3D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64188337"/>
              </p:ext>
            </p:extLst>
          </p:nvPr>
        </p:nvGraphicFramePr>
        <p:xfrm>
          <a:off x="850900" y="1319514"/>
          <a:ext cx="10125075" cy="4860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84B4FB8-6256-4F44-F50B-954ED8BB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4850"/>
              </a:lnSpc>
            </a:pPr>
            <a:r>
              <a:rPr lang="en-US" spc="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Components and Building Blocks</a:t>
            </a:r>
            <a:endParaRPr lang="en-US" spc="0" dirty="0"/>
          </a:p>
        </p:txBody>
      </p:sp>
    </p:spTree>
    <p:extLst>
      <p:ext uri="{BB962C8B-B14F-4D97-AF65-F5344CB8AC3E}">
        <p14:creationId xmlns:p14="http://schemas.microsoft.com/office/powerpoint/2010/main" val="264617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A49A-DC7C-9C4F-2F9A-564E195C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900"/>
              </a:lnSpc>
            </a:pPr>
            <a:r>
              <a:rPr lang="en-US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ALU Block Diagram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138D39-DE26-CACA-E17F-0D30E82AA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2640" y="381000"/>
            <a:ext cx="0" cy="6038848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22E1FD1-52EE-C504-416C-DF38355037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29" r="29787"/>
          <a:stretch>
            <a:fillRect/>
          </a:stretch>
        </p:blipFill>
        <p:spPr>
          <a:xfrm>
            <a:off x="6887590" y="1456033"/>
            <a:ext cx="2971689" cy="5184934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AEA2695A-C5CC-EFA6-435F-AF4A0F73F988}"/>
              </a:ext>
            </a:extLst>
          </p:cNvPr>
          <p:cNvSpPr/>
          <p:nvPr/>
        </p:nvSpPr>
        <p:spPr>
          <a:xfrm>
            <a:off x="4355323" y="5422298"/>
            <a:ext cx="2422572" cy="30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Inputs</a:t>
            </a:r>
            <a:endParaRPr lang="en-US" sz="13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B833D99-9F65-1027-6CDF-554E9A2DFC2D}"/>
              </a:ext>
            </a:extLst>
          </p:cNvPr>
          <p:cNvSpPr/>
          <p:nvPr/>
        </p:nvSpPr>
        <p:spPr>
          <a:xfrm>
            <a:off x="3849640" y="5659844"/>
            <a:ext cx="2971688" cy="206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A(4), B(4), Cin</a:t>
            </a:r>
            <a:endParaRPr lang="en-US" sz="10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61FC3A7-57D5-2338-AF9A-A36F87C8496F}"/>
              </a:ext>
            </a:extLst>
          </p:cNvPr>
          <p:cNvSpPr/>
          <p:nvPr/>
        </p:nvSpPr>
        <p:spPr>
          <a:xfrm>
            <a:off x="4332493" y="3755942"/>
            <a:ext cx="2422572" cy="30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ALU Core</a:t>
            </a:r>
            <a:endParaRPr lang="en-US" sz="13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E3E8DDD-259B-8059-30EF-D948C3AB1343}"/>
              </a:ext>
            </a:extLst>
          </p:cNvPr>
          <p:cNvSpPr/>
          <p:nvPr/>
        </p:nvSpPr>
        <p:spPr>
          <a:xfrm>
            <a:off x="4952328" y="3951933"/>
            <a:ext cx="1838810" cy="41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Per-bit arithmetic and logic units</a:t>
            </a:r>
            <a:endParaRPr lang="en-US" sz="10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C661245-BD7E-81E6-FACA-6644010C0530}"/>
              </a:ext>
            </a:extLst>
          </p:cNvPr>
          <p:cNvSpPr/>
          <p:nvPr/>
        </p:nvSpPr>
        <p:spPr>
          <a:xfrm>
            <a:off x="4355323" y="2147623"/>
            <a:ext cx="2422572" cy="30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Outputs</a:t>
            </a:r>
            <a:endParaRPr lang="en-US" sz="13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B38A202-E43D-EAC8-314B-B297361B0E2B}"/>
              </a:ext>
            </a:extLst>
          </p:cNvPr>
          <p:cNvSpPr/>
          <p:nvPr/>
        </p:nvSpPr>
        <p:spPr>
          <a:xfrm>
            <a:off x="3849640" y="2357665"/>
            <a:ext cx="2971688" cy="206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Result(4) and Cout</a:t>
            </a:r>
            <a:endParaRPr lang="en-US" sz="10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8B54983-8E63-A049-E620-5F86C8A1B6A3}"/>
              </a:ext>
            </a:extLst>
          </p:cNvPr>
          <p:cNvSpPr/>
          <p:nvPr/>
        </p:nvSpPr>
        <p:spPr>
          <a:xfrm>
            <a:off x="9859279" y="4610091"/>
            <a:ext cx="1232466" cy="30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Operation Select</a:t>
            </a:r>
            <a:endParaRPr lang="en-US" sz="135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2C6841B-E926-5055-A073-92E746D6643F}"/>
              </a:ext>
            </a:extLst>
          </p:cNvPr>
          <p:cNvSpPr/>
          <p:nvPr/>
        </p:nvSpPr>
        <p:spPr>
          <a:xfrm>
            <a:off x="9859279" y="4866763"/>
            <a:ext cx="1473481" cy="206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S0 and S1 control ALU mode</a:t>
            </a:r>
            <a:endParaRPr lang="en-US" sz="10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92E1149-A62C-184D-1886-3F504E32FEDF}"/>
              </a:ext>
            </a:extLst>
          </p:cNvPr>
          <p:cNvSpPr/>
          <p:nvPr/>
        </p:nvSpPr>
        <p:spPr>
          <a:xfrm>
            <a:off x="9859280" y="2914289"/>
            <a:ext cx="1232466" cy="30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Multiplexer</a:t>
            </a:r>
            <a:endParaRPr lang="en-US" sz="135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BB93CB5-CA83-D03A-4E77-06A0E2301139}"/>
              </a:ext>
            </a:extLst>
          </p:cNvPr>
          <p:cNvSpPr/>
          <p:nvPr/>
        </p:nvSpPr>
        <p:spPr>
          <a:xfrm>
            <a:off x="9859279" y="3151835"/>
            <a:ext cx="1473481" cy="41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Selects final outputs based on S lines</a:t>
            </a:r>
            <a:endParaRPr lang="en-US" sz="10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9A7A8-0FB3-F465-A166-62056B8635FF}"/>
              </a:ext>
            </a:extLst>
          </p:cNvPr>
          <p:cNvSpPr/>
          <p:nvPr/>
        </p:nvSpPr>
        <p:spPr>
          <a:xfrm>
            <a:off x="-1462737" y="1889624"/>
            <a:ext cx="6767147" cy="68858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FC9F68A-6162-774C-C531-B800742A976E}"/>
              </a:ext>
            </a:extLst>
          </p:cNvPr>
          <p:cNvSpPr/>
          <p:nvPr/>
        </p:nvSpPr>
        <p:spPr>
          <a:xfrm>
            <a:off x="859240" y="2554531"/>
            <a:ext cx="20001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Input Signals</a:t>
            </a:r>
            <a:endParaRPr lang="en-US" sz="1550" b="1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33090D0-8848-C2B8-2C30-C89E3573DD30}"/>
              </a:ext>
            </a:extLst>
          </p:cNvPr>
          <p:cNvSpPr/>
          <p:nvPr/>
        </p:nvSpPr>
        <p:spPr>
          <a:xfrm>
            <a:off x="859240" y="2917434"/>
            <a:ext cx="5325428" cy="6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Two 4-bit binary inputs (A, B)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Carry input (Cin)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Two operation select lines (S0, S1)</a:t>
            </a:r>
            <a:endParaRPr lang="en-US" sz="125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54D18A8-156A-00A5-7760-B612E47EE948}"/>
              </a:ext>
            </a:extLst>
          </p:cNvPr>
          <p:cNvSpPr/>
          <p:nvPr/>
        </p:nvSpPr>
        <p:spPr>
          <a:xfrm>
            <a:off x="846879" y="4327089"/>
            <a:ext cx="20001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Output Signals</a:t>
            </a:r>
            <a:endParaRPr lang="en-US" sz="1550" b="1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4783E6E8-43FF-57F0-5582-B9B3ACD0B9D9}"/>
              </a:ext>
            </a:extLst>
          </p:cNvPr>
          <p:cNvSpPr/>
          <p:nvPr/>
        </p:nvSpPr>
        <p:spPr>
          <a:xfrm>
            <a:off x="868358" y="4658850"/>
            <a:ext cx="5325428" cy="6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4-bit result output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Carry output (Cout)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Operation selection control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0965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B699CFFE-2DC6-E81D-7C17-153A34C15F8D}"/>
              </a:ext>
            </a:extLst>
          </p:cNvPr>
          <p:cNvSpPr/>
          <p:nvPr/>
        </p:nvSpPr>
        <p:spPr>
          <a:xfrm>
            <a:off x="1052990" y="603155"/>
            <a:ext cx="10086019" cy="80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dirty="0">
                <a:solidFill>
                  <a:srgbClr val="233E32"/>
                </a:solidFill>
                <a:latin typeface="+mj-lt"/>
                <a:ea typeface="Alice" pitchFamily="34" charset="-122"/>
                <a:cs typeface="Alice" pitchFamily="34" charset="-120"/>
              </a:rPr>
              <a:t>Four Operations Implemented</a:t>
            </a:r>
            <a:endParaRPr lang="en-US" sz="4400" dirty="0">
              <a:latin typeface="+mj-lt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3717C42C-4FB5-2330-967E-54DC5FACBD00}"/>
              </a:ext>
            </a:extLst>
          </p:cNvPr>
          <p:cNvSpPr/>
          <p:nvPr/>
        </p:nvSpPr>
        <p:spPr>
          <a:xfrm>
            <a:off x="1076211" y="1620193"/>
            <a:ext cx="4241597" cy="2469740"/>
          </a:xfrm>
          <a:prstGeom prst="roundRect">
            <a:avLst>
              <a:gd name="adj" fmla="val 1557"/>
            </a:avLst>
          </a:prstGeom>
          <a:solidFill>
            <a:srgbClr val="F0EDE6"/>
          </a:solidFill>
          <a:ln/>
        </p:spPr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E2A98E0-AFDB-9AE2-5536-315A2C4014CC}"/>
              </a:ext>
            </a:extLst>
          </p:cNvPr>
          <p:cNvSpPr/>
          <p:nvPr/>
        </p:nvSpPr>
        <p:spPr>
          <a:xfrm>
            <a:off x="1303025" y="1847007"/>
            <a:ext cx="2252097" cy="480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00</a:t>
            </a:r>
            <a:endParaRPr lang="en-US" sz="24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4BF0160-D965-B1EE-4D60-0BFF855808C0}"/>
              </a:ext>
            </a:extLst>
          </p:cNvPr>
          <p:cNvSpPr/>
          <p:nvPr/>
        </p:nvSpPr>
        <p:spPr>
          <a:xfrm>
            <a:off x="1303025" y="2363024"/>
            <a:ext cx="1876721" cy="40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Addition (A + B)</a:t>
            </a:r>
            <a:endParaRPr lang="en-US" sz="2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40B0D148-835E-F957-60D0-F1AF1A16D27A}"/>
              </a:ext>
            </a:extLst>
          </p:cNvPr>
          <p:cNvSpPr/>
          <p:nvPr/>
        </p:nvSpPr>
        <p:spPr>
          <a:xfrm>
            <a:off x="1303025" y="2853443"/>
            <a:ext cx="3941328" cy="8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Binary addition using Full Adder circuits with carry propagation through all bit positions</a:t>
            </a:r>
            <a:endParaRPr lang="en-US" sz="16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30CC3CF9-87D4-F560-8C9B-7449459FD41F}"/>
              </a:ext>
            </a:extLst>
          </p:cNvPr>
          <p:cNvSpPr/>
          <p:nvPr/>
        </p:nvSpPr>
        <p:spPr>
          <a:xfrm>
            <a:off x="6647299" y="1620193"/>
            <a:ext cx="4241676" cy="2469740"/>
          </a:xfrm>
          <a:prstGeom prst="roundRect">
            <a:avLst>
              <a:gd name="adj" fmla="val 1557"/>
            </a:avLst>
          </a:prstGeom>
          <a:solidFill>
            <a:srgbClr val="F0EDE6"/>
          </a:solidFill>
          <a:ln/>
        </p:spPr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D72235E-D38B-0868-31A2-5E2D4AEA1044}"/>
              </a:ext>
            </a:extLst>
          </p:cNvPr>
          <p:cNvSpPr/>
          <p:nvPr/>
        </p:nvSpPr>
        <p:spPr>
          <a:xfrm>
            <a:off x="6874112" y="1847007"/>
            <a:ext cx="2252097" cy="480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34A59B09-8EA2-0E3A-BD9C-C9176A2C6EA1}"/>
              </a:ext>
            </a:extLst>
          </p:cNvPr>
          <p:cNvSpPr/>
          <p:nvPr/>
        </p:nvSpPr>
        <p:spPr>
          <a:xfrm>
            <a:off x="6874112" y="2363024"/>
            <a:ext cx="1876721" cy="40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Subtraction (A - B)</a:t>
            </a:r>
            <a:endParaRPr lang="en-US" sz="20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366AD8D-AB32-810D-529E-BE3911330882}"/>
              </a:ext>
            </a:extLst>
          </p:cNvPr>
          <p:cNvSpPr/>
          <p:nvPr/>
        </p:nvSpPr>
        <p:spPr>
          <a:xfrm>
            <a:off x="6874112" y="2853443"/>
            <a:ext cx="3941407" cy="8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Two's complement subtraction implemented using addition with inverted subtrahend</a:t>
            </a:r>
            <a:endParaRPr lang="en-US" sz="16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4E353B2B-FD4F-E53A-B63A-7D4B6FD882D5}"/>
              </a:ext>
            </a:extLst>
          </p:cNvPr>
          <p:cNvSpPr/>
          <p:nvPr/>
        </p:nvSpPr>
        <p:spPr>
          <a:xfrm>
            <a:off x="1076211" y="4032876"/>
            <a:ext cx="4241597" cy="2469740"/>
          </a:xfrm>
          <a:prstGeom prst="roundRect">
            <a:avLst>
              <a:gd name="adj" fmla="val 1557"/>
            </a:avLst>
          </a:prstGeom>
          <a:solidFill>
            <a:srgbClr val="F0EDE6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6F148FC-7156-2352-561F-3ADA9CA1138F}"/>
              </a:ext>
            </a:extLst>
          </p:cNvPr>
          <p:cNvSpPr/>
          <p:nvPr/>
        </p:nvSpPr>
        <p:spPr>
          <a:xfrm>
            <a:off x="1303025" y="4259690"/>
            <a:ext cx="2252097" cy="480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10</a:t>
            </a:r>
            <a:endParaRPr lang="en-US" sz="24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00D8FE72-E60C-3A2C-570E-383606980D0E}"/>
              </a:ext>
            </a:extLst>
          </p:cNvPr>
          <p:cNvSpPr/>
          <p:nvPr/>
        </p:nvSpPr>
        <p:spPr>
          <a:xfrm>
            <a:off x="1303025" y="4775707"/>
            <a:ext cx="1876721" cy="40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AND Operation</a:t>
            </a:r>
            <a:endParaRPr lang="en-US" sz="20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656A21C2-3872-CBE5-D65F-7E7147DDFB41}"/>
              </a:ext>
            </a:extLst>
          </p:cNvPr>
          <p:cNvSpPr/>
          <p:nvPr/>
        </p:nvSpPr>
        <p:spPr>
          <a:xfrm>
            <a:off x="1303025" y="5266125"/>
            <a:ext cx="3941328" cy="8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Bitwise logical AND between corresponding bits of inputs A and B</a:t>
            </a:r>
            <a:endParaRPr lang="en-US" sz="16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B9E83667-5D6A-2414-BF15-6D36D66937AE}"/>
              </a:ext>
            </a:extLst>
          </p:cNvPr>
          <p:cNvSpPr/>
          <p:nvPr/>
        </p:nvSpPr>
        <p:spPr>
          <a:xfrm>
            <a:off x="6647299" y="4032876"/>
            <a:ext cx="4241676" cy="2469740"/>
          </a:xfrm>
          <a:prstGeom prst="roundRect">
            <a:avLst>
              <a:gd name="adj" fmla="val 1557"/>
            </a:avLst>
          </a:prstGeom>
          <a:solidFill>
            <a:srgbClr val="F0EDE6"/>
          </a:solidFill>
          <a:ln/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1BF09071-7310-16BF-07B5-B4FE7BC6F4E2}"/>
              </a:ext>
            </a:extLst>
          </p:cNvPr>
          <p:cNvSpPr/>
          <p:nvPr/>
        </p:nvSpPr>
        <p:spPr>
          <a:xfrm>
            <a:off x="6874112" y="4259690"/>
            <a:ext cx="2252097" cy="480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11</a:t>
            </a:r>
            <a:endParaRPr lang="en-US" sz="24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009B84AA-0C8F-9B6E-4E3C-EDAD7BB77983}"/>
              </a:ext>
            </a:extLst>
          </p:cNvPr>
          <p:cNvSpPr/>
          <p:nvPr/>
        </p:nvSpPr>
        <p:spPr>
          <a:xfrm>
            <a:off x="6874112" y="4775707"/>
            <a:ext cx="1876721" cy="40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OR Operation</a:t>
            </a:r>
            <a:endParaRPr lang="en-US" sz="20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C960306A-C17B-958F-9929-00E8F0C1D974}"/>
              </a:ext>
            </a:extLst>
          </p:cNvPr>
          <p:cNvSpPr/>
          <p:nvPr/>
        </p:nvSpPr>
        <p:spPr>
          <a:xfrm>
            <a:off x="6874112" y="5266125"/>
            <a:ext cx="3941407" cy="82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Bitwise logical OR between corresponding bits of inputs A and B</a:t>
            </a:r>
            <a:endParaRPr lang="en-US" sz="16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2B11E7-CF38-3910-FE6A-FA8C8D09F40E}"/>
              </a:ext>
            </a:extLst>
          </p:cNvPr>
          <p:cNvCxnSpPr>
            <a:cxnSpLocks/>
          </p:cNvCxnSpPr>
          <p:nvPr/>
        </p:nvCxnSpPr>
        <p:spPr>
          <a:xfrm>
            <a:off x="1076211" y="4089933"/>
            <a:ext cx="4241597" cy="0"/>
          </a:xfrm>
          <a:prstGeom prst="line">
            <a:avLst/>
          </a:prstGeom>
          <a:ln w="28575">
            <a:solidFill>
              <a:srgbClr val="4A5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403FB5-DBD6-D6F7-7032-262F8653AF06}"/>
              </a:ext>
            </a:extLst>
          </p:cNvPr>
          <p:cNvCxnSpPr>
            <a:cxnSpLocks/>
          </p:cNvCxnSpPr>
          <p:nvPr/>
        </p:nvCxnSpPr>
        <p:spPr>
          <a:xfrm>
            <a:off x="6647377" y="4089933"/>
            <a:ext cx="4241598" cy="0"/>
          </a:xfrm>
          <a:prstGeom prst="line">
            <a:avLst/>
          </a:prstGeom>
          <a:ln w="28575">
            <a:solidFill>
              <a:srgbClr val="132B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EA43EF1-009B-DB7B-7D0C-2867BEE9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022" y="385500"/>
            <a:ext cx="5744335" cy="979204"/>
          </a:xfrm>
        </p:spPr>
        <p:txBody>
          <a:bodyPr/>
          <a:lstStyle/>
          <a:p>
            <a:r>
              <a:rPr lang="en-US" sz="3200" spc="0" dirty="0"/>
              <a:t>Circuit Design and Operation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D359C22-92F1-56AC-04FD-74AB2DF4ED6A}"/>
              </a:ext>
            </a:extLst>
          </p:cNvPr>
          <p:cNvSpPr/>
          <p:nvPr/>
        </p:nvSpPr>
        <p:spPr>
          <a:xfrm>
            <a:off x="505999" y="1669396"/>
            <a:ext cx="2661190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Implementation Details</a:t>
            </a:r>
            <a:endParaRPr lang="en-US" sz="2400" b="1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F7AF7FD-6F21-06A7-ACE0-08EB598FE0F4}"/>
              </a:ext>
            </a:extLst>
          </p:cNvPr>
          <p:cNvSpPr/>
          <p:nvPr/>
        </p:nvSpPr>
        <p:spPr>
          <a:xfrm>
            <a:off x="505999" y="2060398"/>
            <a:ext cx="4912719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The ALU was constructed in Logisim using discrete logic gates connected through a multiplexer-based selection system.</a:t>
            </a:r>
            <a:endParaRPr lang="en-US" sz="1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A2C94D2-B861-CBFE-1441-DA175763C50C}"/>
              </a:ext>
            </a:extLst>
          </p:cNvPr>
          <p:cNvSpPr/>
          <p:nvPr/>
        </p:nvSpPr>
        <p:spPr>
          <a:xfrm>
            <a:off x="505999" y="3223519"/>
            <a:ext cx="2502693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Control Mechanism</a:t>
            </a:r>
            <a:endParaRPr lang="en-US" sz="2400" b="1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63F688F-070D-2F5C-E0C0-6379864D1FB2}"/>
              </a:ext>
            </a:extLst>
          </p:cNvPr>
          <p:cNvSpPr/>
          <p:nvPr/>
        </p:nvSpPr>
        <p:spPr>
          <a:xfrm>
            <a:off x="505999" y="3572848"/>
            <a:ext cx="4912719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Selection lines S0 and S1 determine the active operation. The multiplexer routes the appropriate operation result to the output based on these control signals.</a:t>
            </a:r>
            <a:endParaRPr lang="en-US" sz="1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D9BFED9-65DD-86FE-3378-AE51DDFF9262}"/>
              </a:ext>
            </a:extLst>
          </p:cNvPr>
          <p:cNvSpPr/>
          <p:nvPr/>
        </p:nvSpPr>
        <p:spPr>
          <a:xfrm>
            <a:off x="505999" y="4856064"/>
            <a:ext cx="2502693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Carry Logic</a:t>
            </a:r>
            <a:endParaRPr lang="en-US" sz="2400" b="1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EB26D93-57AC-F50E-4BA8-320CD3EB7F13}"/>
              </a:ext>
            </a:extLst>
          </p:cNvPr>
          <p:cNvSpPr/>
          <p:nvPr/>
        </p:nvSpPr>
        <p:spPr>
          <a:xfrm>
            <a:off x="505999" y="5236651"/>
            <a:ext cx="4912719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Carry propagation implemented through Full Adder circuits, with carry-out from one bit feeding carry-in to the next higher bit position.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797170-A53E-6D5E-CC43-7F843003E347}"/>
              </a:ext>
            </a:extLst>
          </p:cNvPr>
          <p:cNvSpPr/>
          <p:nvPr/>
        </p:nvSpPr>
        <p:spPr>
          <a:xfrm>
            <a:off x="7300913" y="385500"/>
            <a:ext cx="4186237" cy="6258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3EC3C5-6846-1C55-53BF-09A0B3802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694" y="1185877"/>
            <a:ext cx="5887456" cy="490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B9C5-183A-3556-D047-215BDB00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684" y="781539"/>
            <a:ext cx="10122632" cy="652054"/>
          </a:xfrm>
        </p:spPr>
        <p:txBody>
          <a:bodyPr/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Truth Table Verification</a:t>
            </a:r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DE29ABF-2F75-58D0-2A5A-72FA8A4E05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35825505"/>
              </p:ext>
            </p:extLst>
          </p:nvPr>
        </p:nvGraphicFramePr>
        <p:xfrm>
          <a:off x="850900" y="2355742"/>
          <a:ext cx="10121900" cy="306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47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2530475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530475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2530475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</a:tblGrid>
              <a:tr h="613733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n-lt"/>
                        </a:rPr>
                        <a:t>S1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n-lt"/>
                        </a:rPr>
                        <a:t>S0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n-lt"/>
                        </a:rPr>
                        <a:t>OPERATION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n-lt"/>
                        </a:rPr>
                        <a:t>OUTPUT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1373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A+B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1373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A-B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1373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A ∧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1373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+mn-lt"/>
                        </a:rPr>
                        <a:t>A ∨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BE23D31-62BF-E385-B63D-B9325696876F}"/>
              </a:ext>
            </a:extLst>
          </p:cNvPr>
          <p:cNvSpPr/>
          <p:nvPr/>
        </p:nvSpPr>
        <p:spPr>
          <a:xfrm>
            <a:off x="850168" y="18818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Operation selection and expected outputs for all four functions:-</a:t>
            </a:r>
            <a:endParaRPr lang="en-US" sz="1750" dirty="0"/>
          </a:p>
        </p:txBody>
      </p:sp>
      <p:sp>
        <p:nvSpPr>
          <p:cNvPr id="5" name="Text 28">
            <a:extLst>
              <a:ext uri="{FF2B5EF4-FFF2-40B4-BE49-F238E27FC236}">
                <a16:creationId xmlns:a16="http://schemas.microsoft.com/office/drawing/2014/main" id="{92EEE07D-1841-21EE-2203-D62C8215434E}"/>
              </a:ext>
            </a:extLst>
          </p:cNvPr>
          <p:cNvSpPr/>
          <p:nvPr/>
        </p:nvSpPr>
        <p:spPr>
          <a:xfrm>
            <a:off x="850168" y="5561792"/>
            <a:ext cx="8798799" cy="129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Each operation verified with multiple input combinations to ensure correct functionality</a:t>
            </a:r>
            <a:b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</a:br>
            <a:r>
              <a:rPr lang="en-US" sz="17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across all bit positions.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94295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6453-A1EA-0C47-54C9-A7304C5C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FC7BA57B-B058-116E-959E-632175D2D5DA}"/>
              </a:ext>
            </a:extLst>
          </p:cNvPr>
          <p:cNvSpPr/>
          <p:nvPr/>
        </p:nvSpPr>
        <p:spPr>
          <a:xfrm>
            <a:off x="4747703" y="246537"/>
            <a:ext cx="6879456" cy="143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3200" dirty="0">
                <a:solidFill>
                  <a:srgbClr val="233E32"/>
                </a:solidFill>
                <a:latin typeface="+mj-lt"/>
                <a:ea typeface="Alice" pitchFamily="34" charset="-122"/>
                <a:cs typeface="Alice" pitchFamily="34" charset="-120"/>
              </a:rPr>
              <a:t>Testing and Verification</a:t>
            </a:r>
            <a:br>
              <a:rPr lang="en-US" sz="3200" dirty="0">
                <a:solidFill>
                  <a:srgbClr val="233E32"/>
                </a:solidFill>
                <a:latin typeface="+mj-lt"/>
                <a:ea typeface="Alice" pitchFamily="34" charset="-122"/>
                <a:cs typeface="Alice" pitchFamily="34" charset="-120"/>
              </a:rPr>
            </a:br>
            <a:r>
              <a:rPr lang="en-US" sz="3200" dirty="0">
                <a:solidFill>
                  <a:srgbClr val="233E32"/>
                </a:solidFill>
                <a:latin typeface="+mj-lt"/>
                <a:ea typeface="Alice" pitchFamily="34" charset="-122"/>
                <a:cs typeface="Alice" pitchFamily="34" charset="-120"/>
              </a:rPr>
              <a:t>Methodology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C032204-B608-3A48-516B-61676CF86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658" y="1633003"/>
            <a:ext cx="607947" cy="94148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DC5992C-9DE7-7E6D-7347-E3C6D9C4A36C}"/>
              </a:ext>
            </a:extLst>
          </p:cNvPr>
          <p:cNvSpPr/>
          <p:nvPr/>
        </p:nvSpPr>
        <p:spPr>
          <a:xfrm>
            <a:off x="5441859" y="1497922"/>
            <a:ext cx="1927531" cy="22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Individual Gate Testing</a:t>
            </a:r>
            <a:endParaRPr lang="en-US" sz="17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C99EA83-8CA8-0610-3974-CAB2F1175B50}"/>
              </a:ext>
            </a:extLst>
          </p:cNvPr>
          <p:cNvSpPr/>
          <p:nvPr/>
        </p:nvSpPr>
        <p:spPr>
          <a:xfrm>
            <a:off x="5441858" y="1927758"/>
            <a:ext cx="6185301" cy="40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Verified functionality of each logic gate and Full Adder circuit independently before integration</a:t>
            </a:r>
            <a:endParaRPr lang="en-US" sz="13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FD7D1512-9D67-8436-234D-BB92C041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524" y="2957812"/>
            <a:ext cx="607947" cy="94148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F26C5A09-1EFC-27EE-DC31-8909676D5A43}"/>
              </a:ext>
            </a:extLst>
          </p:cNvPr>
          <p:cNvSpPr/>
          <p:nvPr/>
        </p:nvSpPr>
        <p:spPr>
          <a:xfrm>
            <a:off x="5702725" y="2822730"/>
            <a:ext cx="1987290" cy="22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Operation Mode Testing</a:t>
            </a:r>
            <a:endParaRPr lang="en-US" sz="1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172F873-C783-0D43-53CC-BB08D6534C94}"/>
              </a:ext>
            </a:extLst>
          </p:cNvPr>
          <p:cNvSpPr/>
          <p:nvPr/>
        </p:nvSpPr>
        <p:spPr>
          <a:xfrm>
            <a:off x="5702725" y="3252567"/>
            <a:ext cx="5963389" cy="40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Tested each operation (addition, subtraction, AND, OR) with various input combinations to validate correctness</a:t>
            </a:r>
            <a:endParaRPr lang="en-US" sz="135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572CCC4B-82FD-C8C1-E98C-F8CA35FD0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509" y="4282620"/>
            <a:ext cx="607947" cy="941483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A072138A-A5A1-FDD5-D264-CC271767ECA2}"/>
              </a:ext>
            </a:extLst>
          </p:cNvPr>
          <p:cNvSpPr/>
          <p:nvPr/>
        </p:nvSpPr>
        <p:spPr>
          <a:xfrm>
            <a:off x="5963709" y="4147538"/>
            <a:ext cx="1850051" cy="22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Edge Case Analysis</a:t>
            </a:r>
            <a:endParaRPr lang="en-US" sz="17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B7A2A5E-6BE2-7ACC-E9BD-776417E1519A}"/>
              </a:ext>
            </a:extLst>
          </p:cNvPr>
          <p:cNvSpPr/>
          <p:nvPr/>
        </p:nvSpPr>
        <p:spPr>
          <a:xfrm>
            <a:off x="5963711" y="4577375"/>
            <a:ext cx="5741375" cy="40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Examined overflow conditions, negative results, and boundary values to ensure robust operation</a:t>
            </a:r>
            <a:endParaRPr lang="en-US" sz="1350" dirty="0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5ADE1387-4FD1-A64B-A95B-BEDA1864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494" y="5607429"/>
            <a:ext cx="607947" cy="941483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54629994-A500-FB14-935B-B089EDF19178}"/>
              </a:ext>
            </a:extLst>
          </p:cNvPr>
          <p:cNvSpPr/>
          <p:nvPr/>
        </p:nvSpPr>
        <p:spPr>
          <a:xfrm>
            <a:off x="6224694" y="5472347"/>
            <a:ext cx="1850051" cy="22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Truth Table Validation</a:t>
            </a:r>
            <a:endParaRPr lang="en-US" sz="17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B34B5E8C-7B3C-DB8D-ACEE-CE2DDDBED46E}"/>
              </a:ext>
            </a:extLst>
          </p:cNvPr>
          <p:cNvSpPr/>
          <p:nvPr/>
        </p:nvSpPr>
        <p:spPr>
          <a:xfrm>
            <a:off x="6224694" y="5902184"/>
            <a:ext cx="5519360" cy="40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Compared simulated outputs against theoretical truth table predictions for comprehensive verification</a:t>
            </a:r>
            <a:endParaRPr lang="en-US" sz="1350" dirty="0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68411020-9683-CA05-D2EE-411AC68EA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786658" cy="687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7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FC0C-2BB4-A708-42F1-2515AAA5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CA23BF68-8883-F021-AB4A-BEBB53D069A6}"/>
              </a:ext>
            </a:extLst>
          </p:cNvPr>
          <p:cNvSpPr/>
          <p:nvPr/>
        </p:nvSpPr>
        <p:spPr>
          <a:xfrm>
            <a:off x="2656272" y="532347"/>
            <a:ext cx="6879456" cy="48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233E32"/>
                </a:solidFill>
                <a:latin typeface="+mj-lt"/>
                <a:ea typeface="Alice" pitchFamily="34" charset="-122"/>
                <a:cs typeface="Alice" pitchFamily="34" charset="-120"/>
              </a:rPr>
              <a:t>Conclusion and Future Scope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E27B30AA-4334-C26A-7B28-39DD059B9989}"/>
              </a:ext>
            </a:extLst>
          </p:cNvPr>
          <p:cNvSpPr/>
          <p:nvPr/>
        </p:nvSpPr>
        <p:spPr>
          <a:xfrm>
            <a:off x="1711477" y="1521914"/>
            <a:ext cx="9083902" cy="4674170"/>
          </a:xfrm>
          <a:prstGeom prst="roundRect">
            <a:avLst>
              <a:gd name="adj" fmla="val 5954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73FAF7B3-96F7-54FB-466C-FEEAB94BAC9A}"/>
              </a:ext>
            </a:extLst>
          </p:cNvPr>
          <p:cNvSpPr/>
          <p:nvPr/>
        </p:nvSpPr>
        <p:spPr>
          <a:xfrm flipH="1">
            <a:off x="2137922" y="1751027"/>
            <a:ext cx="60369" cy="4226693"/>
          </a:xfrm>
          <a:prstGeom prst="roundRect">
            <a:avLst>
              <a:gd name="adj" fmla="val 33912"/>
            </a:avLst>
          </a:prstGeom>
          <a:solidFill>
            <a:srgbClr val="1B5F39"/>
          </a:solidFill>
          <a:ln/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23451D8-1C5E-5481-86FB-04E034FFA4F5}"/>
              </a:ext>
            </a:extLst>
          </p:cNvPr>
          <p:cNvSpPr/>
          <p:nvPr/>
        </p:nvSpPr>
        <p:spPr>
          <a:xfrm>
            <a:off x="2379814" y="1852966"/>
            <a:ext cx="2657838" cy="28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D5EB0FD-D459-9F75-9CEE-F6FF0AF6815C}"/>
              </a:ext>
            </a:extLst>
          </p:cNvPr>
          <p:cNvSpPr/>
          <p:nvPr/>
        </p:nvSpPr>
        <p:spPr>
          <a:xfrm>
            <a:off x="2379814" y="2297858"/>
            <a:ext cx="7374051" cy="83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2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Successfully designed and implemented a 4-function ALU using fundamental logic gates with complete operational verification through simulation</a:t>
            </a:r>
            <a:endParaRPr lang="en-US" sz="1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6434D9A-BFEA-1562-FDA2-F5E1B3AD86B5}"/>
              </a:ext>
            </a:extLst>
          </p:cNvPr>
          <p:cNvSpPr/>
          <p:nvPr/>
        </p:nvSpPr>
        <p:spPr>
          <a:xfrm>
            <a:off x="2373879" y="3151313"/>
            <a:ext cx="2849616" cy="28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Key Learning Outcomes</a:t>
            </a:r>
            <a:endParaRPr lang="en-US" sz="16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1318E3A-0803-1636-AA54-9DC2592508D4}"/>
              </a:ext>
            </a:extLst>
          </p:cNvPr>
          <p:cNvSpPr/>
          <p:nvPr/>
        </p:nvSpPr>
        <p:spPr>
          <a:xfrm>
            <a:off x="2373880" y="3596204"/>
            <a:ext cx="7374051" cy="83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2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Enhanced understanding of digital logic design principles, circuit construction techniques, and simulation methodologies using industry-standard tools</a:t>
            </a:r>
            <a:endParaRPr lang="en-US" sz="12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9A9EA65E-4F9D-3EC8-961E-8FF25A745FE1}"/>
              </a:ext>
            </a:extLst>
          </p:cNvPr>
          <p:cNvSpPr/>
          <p:nvPr/>
        </p:nvSpPr>
        <p:spPr>
          <a:xfrm>
            <a:off x="2379814" y="4478095"/>
            <a:ext cx="2657838" cy="28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899239CA-3F41-A0BF-F461-331606201746}"/>
              </a:ext>
            </a:extLst>
          </p:cNvPr>
          <p:cNvSpPr/>
          <p:nvPr/>
        </p:nvSpPr>
        <p:spPr>
          <a:xfrm>
            <a:off x="2379814" y="4922987"/>
            <a:ext cx="7374051" cy="83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2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Expand to 8-bit or 16-bit architecture, incorporate additional operations (XOR, shift), implement pipelining, or integrate with CPU control unit for complete processor simulation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19458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A12F8-DD2F-AE73-677F-D5310D6D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1AF693-3675-52A5-9E8E-C071048A1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1400. Krishna Kamlesh Singh</a:t>
            </a:r>
          </a:p>
          <a:p>
            <a:r>
              <a:rPr lang="en-US" dirty="0"/>
              <a:t>BSc FYCS- C | COA | 2025-26 | MES-PCACS |</a:t>
            </a:r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rgbClr val="36393B"/>
      </a:dk1>
      <a:lt1>
        <a:srgbClr val="FFFFFF"/>
      </a:lt1>
      <a:dk2>
        <a:srgbClr val="3AEFCC"/>
      </a:dk2>
      <a:lt2>
        <a:srgbClr val="E7E4E6"/>
      </a:lt2>
      <a:accent1>
        <a:srgbClr val="4A5EE6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E62F0"/>
      </a:hlink>
      <a:folHlink>
        <a:srgbClr val="FC4C00"/>
      </a:folHlink>
    </a:clrScheme>
    <a:fontScheme name="Custom 9">
      <a:majorFont>
        <a:latin typeface="Arial Black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TM34357351</Template>
  <TotalTime>51</TotalTime>
  <Words>648</Words>
  <Application>Microsoft Office PowerPoint</Application>
  <PresentationFormat>Widescreen</PresentationFormat>
  <Paragraphs>110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Alice</vt:lpstr>
      <vt:lpstr>Arial</vt:lpstr>
      <vt:lpstr>Arial Black</vt:lpstr>
      <vt:lpstr>Avenir Next LT Pro</vt:lpstr>
      <vt:lpstr>Calibri</vt:lpstr>
      <vt:lpstr>Lora</vt:lpstr>
      <vt:lpstr>Office Theme</vt:lpstr>
      <vt:lpstr>Design and Verification of 4-Function ALU using Logic Gates</vt:lpstr>
      <vt:lpstr>What is an ALU?</vt:lpstr>
      <vt:lpstr>Project Objectives</vt:lpstr>
      <vt:lpstr>Project Objectives</vt:lpstr>
      <vt:lpstr>Components and Building Blocks</vt:lpstr>
      <vt:lpstr>ALU Block Diagram</vt:lpstr>
      <vt:lpstr>PowerPoint Presentation</vt:lpstr>
      <vt:lpstr>Circuit Design and Operation</vt:lpstr>
      <vt:lpstr>Truth Table Verification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Singh</dc:creator>
  <cp:lastModifiedBy>Krishna Singh</cp:lastModifiedBy>
  <cp:revision>2</cp:revision>
  <dcterms:created xsi:type="dcterms:W3CDTF">2026-01-31T11:04:35Z</dcterms:created>
  <dcterms:modified xsi:type="dcterms:W3CDTF">2026-01-31T11:57:29Z</dcterms:modified>
</cp:coreProperties>
</file>